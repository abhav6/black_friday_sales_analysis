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3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Customer Value Concentration (Pareto Curve)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 %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Sheet1!$A$2:$A$41</c:f>
              <c:strCache>
                <c:ptCount val="40"/>
                <c:pt idx="0">
                  <c:v>0%</c:v>
                </c:pt>
                <c:pt idx="1">
                  <c:v>2.6%</c:v>
                </c:pt>
                <c:pt idx="2">
                  <c:v>5.1%</c:v>
                </c:pt>
                <c:pt idx="3">
                  <c:v>7.7%</c:v>
                </c:pt>
                <c:pt idx="4">
                  <c:v>10.3%</c:v>
                </c:pt>
                <c:pt idx="5">
                  <c:v>12.8%</c:v>
                </c:pt>
                <c:pt idx="6">
                  <c:v>15.4%</c:v>
                </c:pt>
                <c:pt idx="7">
                  <c:v>18%</c:v>
                </c:pt>
                <c:pt idx="8">
                  <c:v>20.5%</c:v>
                </c:pt>
                <c:pt idx="9">
                  <c:v>23.1%</c:v>
                </c:pt>
                <c:pt idx="10">
                  <c:v>25.6%</c:v>
                </c:pt>
                <c:pt idx="11">
                  <c:v>28.2%</c:v>
                </c:pt>
                <c:pt idx="12">
                  <c:v>30.8%</c:v>
                </c:pt>
                <c:pt idx="13">
                  <c:v>33.3%</c:v>
                </c:pt>
                <c:pt idx="14">
                  <c:v>35.9%</c:v>
                </c:pt>
                <c:pt idx="15">
                  <c:v>38.5%</c:v>
                </c:pt>
                <c:pt idx="16">
                  <c:v>41%</c:v>
                </c:pt>
                <c:pt idx="17">
                  <c:v>43.6%</c:v>
                </c:pt>
                <c:pt idx="18">
                  <c:v>46.2%</c:v>
                </c:pt>
                <c:pt idx="19">
                  <c:v>48.7%</c:v>
                </c:pt>
                <c:pt idx="20">
                  <c:v>51.3%</c:v>
                </c:pt>
                <c:pt idx="21">
                  <c:v>53.8%</c:v>
                </c:pt>
                <c:pt idx="22">
                  <c:v>56.4%</c:v>
                </c:pt>
                <c:pt idx="23">
                  <c:v>59%</c:v>
                </c:pt>
                <c:pt idx="24">
                  <c:v>61.5%</c:v>
                </c:pt>
                <c:pt idx="25">
                  <c:v>64.1%</c:v>
                </c:pt>
                <c:pt idx="26">
                  <c:v>66.7%</c:v>
                </c:pt>
                <c:pt idx="27">
                  <c:v>69.2%</c:v>
                </c:pt>
                <c:pt idx="28">
                  <c:v>71.8%</c:v>
                </c:pt>
                <c:pt idx="29">
                  <c:v>74.4%</c:v>
                </c:pt>
                <c:pt idx="30">
                  <c:v>76.9%</c:v>
                </c:pt>
                <c:pt idx="31">
                  <c:v>79.5%</c:v>
                </c:pt>
                <c:pt idx="32">
                  <c:v>82%</c:v>
                </c:pt>
                <c:pt idx="33">
                  <c:v>84.6%</c:v>
                </c:pt>
                <c:pt idx="34">
                  <c:v>87.2%</c:v>
                </c:pt>
                <c:pt idx="35">
                  <c:v>89.7%</c:v>
                </c:pt>
                <c:pt idx="36">
                  <c:v>92.3%</c:v>
                </c:pt>
                <c:pt idx="37">
                  <c:v>94.9%</c:v>
                </c:pt>
                <c:pt idx="38">
                  <c:v>97.4%</c:v>
                </c:pt>
                <c:pt idx="39">
                  <c:v>100%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0.2</c:v>
                </c:pt>
                <c:pt idx="1">
                  <c:v>13.5</c:v>
                </c:pt>
                <c:pt idx="2">
                  <c:v>22.8</c:v>
                </c:pt>
                <c:pt idx="3">
                  <c:v>30.3</c:v>
                </c:pt>
                <c:pt idx="4">
                  <c:v>36.700000000000003</c:v>
                </c:pt>
                <c:pt idx="5">
                  <c:v>42.4</c:v>
                </c:pt>
                <c:pt idx="6">
                  <c:v>47.5</c:v>
                </c:pt>
                <c:pt idx="7">
                  <c:v>52</c:v>
                </c:pt>
                <c:pt idx="8">
                  <c:v>56.1</c:v>
                </c:pt>
                <c:pt idx="9">
                  <c:v>59.9</c:v>
                </c:pt>
                <c:pt idx="10">
                  <c:v>63.3</c:v>
                </c:pt>
                <c:pt idx="11">
                  <c:v>66.400000000000006</c:v>
                </c:pt>
                <c:pt idx="12">
                  <c:v>69.2</c:v>
                </c:pt>
                <c:pt idx="13">
                  <c:v>71.900000000000006</c:v>
                </c:pt>
                <c:pt idx="14">
                  <c:v>74.3</c:v>
                </c:pt>
                <c:pt idx="15">
                  <c:v>76.599999999999994</c:v>
                </c:pt>
                <c:pt idx="16">
                  <c:v>78.7</c:v>
                </c:pt>
                <c:pt idx="17">
                  <c:v>80.599999999999994</c:v>
                </c:pt>
                <c:pt idx="18">
                  <c:v>82.4</c:v>
                </c:pt>
                <c:pt idx="19">
                  <c:v>84.1</c:v>
                </c:pt>
                <c:pt idx="20">
                  <c:v>85.6</c:v>
                </c:pt>
                <c:pt idx="21">
                  <c:v>87.1</c:v>
                </c:pt>
                <c:pt idx="22">
                  <c:v>88.4</c:v>
                </c:pt>
                <c:pt idx="23">
                  <c:v>89.6</c:v>
                </c:pt>
                <c:pt idx="24">
                  <c:v>90.7</c:v>
                </c:pt>
                <c:pt idx="25">
                  <c:v>91.8</c:v>
                </c:pt>
                <c:pt idx="26">
                  <c:v>92.8</c:v>
                </c:pt>
                <c:pt idx="27">
                  <c:v>93.6</c:v>
                </c:pt>
                <c:pt idx="28">
                  <c:v>94.5</c:v>
                </c:pt>
                <c:pt idx="29">
                  <c:v>95.2</c:v>
                </c:pt>
                <c:pt idx="30">
                  <c:v>95.9</c:v>
                </c:pt>
                <c:pt idx="31">
                  <c:v>96.5</c:v>
                </c:pt>
                <c:pt idx="32">
                  <c:v>97.1</c:v>
                </c:pt>
                <c:pt idx="33">
                  <c:v>97.7</c:v>
                </c:pt>
                <c:pt idx="34">
                  <c:v>98.2</c:v>
                </c:pt>
                <c:pt idx="35">
                  <c:v>98.6</c:v>
                </c:pt>
                <c:pt idx="36">
                  <c:v>99.1</c:v>
                </c:pt>
                <c:pt idx="37">
                  <c:v>99.4</c:v>
                </c:pt>
                <c:pt idx="38">
                  <c:v>99.8</c:v>
                </c:pt>
                <c:pt idx="39">
                  <c:v>100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81292096"/>
        <c:axId val="362056472"/>
      </c:lineChart>
      <c:catAx>
        <c:axId val="2812920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% of Customers (ranked by spend)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362056472"/>
        <c:crosses val="autoZero"/>
        <c:auto val="1"/>
        <c:lblAlgn val="ctr"/>
        <c:lblOffset val="100"/>
        <c:tickLblSkip val="5"/>
        <c:noMultiLvlLbl val="1"/>
      </c:catAx>
      <c:valAx>
        <c:axId val="36205647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Cumulative Revenue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81292096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E2761"/>
                </a:solidFill>
                <a:latin typeface="Calibri"/>
              </a:rPr>
              <a:t>Avg Spend per Customer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per Customer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City A (Metro)</c:v>
                </c:pt>
                <c:pt idx="1">
                  <c:v>City B</c:v>
                </c:pt>
                <c:pt idx="2">
                  <c:v>City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1259781</c:v>
                </c:pt>
                <c:pt idx="1">
                  <c:v>1239328</c:v>
                </c:pt>
                <c:pt idx="2">
                  <c:v>530044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362051376"/>
        <c:axId val="362057256"/>
      </c:barChart>
      <c:catAx>
        <c:axId val="362051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362057256"/>
        <c:crosses val="autoZero"/>
        <c:auto val="1"/>
        <c:lblAlgn val="ctr"/>
        <c:lblOffset val="100"/>
        <c:noMultiLvlLbl val="1"/>
      </c:catAx>
      <c:valAx>
        <c:axId val="36205725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362051376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rgbClr val="C99A3B"/>
              </a:solidFill>
              <a:effectLst/>
            </c:spPr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0-17</c:v>
                </c:pt>
                <c:pt idx="1">
                  <c:v>18-25</c:v>
                </c:pt>
                <c:pt idx="2">
                  <c:v>26-35</c:v>
                </c:pt>
                <c:pt idx="3">
                  <c:v>36-45</c:v>
                </c:pt>
                <c:pt idx="4">
                  <c:v>46-50</c:v>
                </c:pt>
                <c:pt idx="5">
                  <c:v>51-55</c:v>
                </c:pt>
                <c:pt idx="6">
                  <c:v>55+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2.6</c:v>
                </c:pt>
                <c:pt idx="1">
                  <c:v>17.899999999999999</c:v>
                </c:pt>
                <c:pt idx="2">
                  <c:v>39.9</c:v>
                </c:pt>
                <c:pt idx="3">
                  <c:v>20.100000000000001</c:v>
                </c:pt>
                <c:pt idx="4">
                  <c:v>8.3000000000000007</c:v>
                </c:pt>
                <c:pt idx="5">
                  <c:v>7.2</c:v>
                </c:pt>
                <c:pt idx="6">
                  <c:v>3.9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362051768"/>
        <c:axId val="362053336"/>
      </c:barChart>
      <c:catAx>
        <c:axId val="362051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362053336"/>
        <c:crosses val="autoZero"/>
        <c:auto val="1"/>
        <c:lblAlgn val="ctr"/>
        <c:lblOffset val="100"/>
        <c:noMultiLvlLbl val="1"/>
      </c:catAx>
      <c:valAx>
        <c:axId val="362053336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362051768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E3F94"/>
              </a:solidFill>
              <a:effectLst/>
            </c:spPr>
          </c:dPt>
          <c:dPt>
            <c:idx val="2"/>
            <c:bubble3D val="0"/>
            <c:spPr>
              <a:solidFill>
                <a:srgbClr val="3E5AB0"/>
              </a:solidFill>
              <a:effectLst/>
            </c:spPr>
          </c:dPt>
          <c:dPt>
            <c:idx val="3"/>
            <c:bubble3D val="0"/>
            <c:spPr>
              <a:solidFill>
                <a:srgbClr val="6C86C9"/>
              </a:solidFill>
              <a:effectLst/>
            </c:spPr>
          </c:dPt>
          <c:dPt>
            <c:idx val="4"/>
            <c:bubble3D val="0"/>
            <c:spPr>
              <a:solidFill>
                <a:srgbClr val="C99A3B"/>
              </a:solidFill>
              <a:effectLst/>
            </c:spPr>
          </c:dPt>
          <c:dPt>
            <c:idx val="5"/>
            <c:bubble3D val="0"/>
            <c:spPr>
              <a:solidFill>
                <a:srgbClr val="D9B36C"/>
              </a:solidFill>
              <a:effectLst/>
            </c:spPr>
          </c:dPt>
          <c:dPt>
            <c:idx val="6"/>
            <c:bubble3D val="0"/>
            <c:spPr>
              <a:solidFill>
                <a:srgbClr val="9AA0AE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Cat 1</c:v>
                </c:pt>
                <c:pt idx="1">
                  <c:v>Cat 5</c:v>
                </c:pt>
                <c:pt idx="2">
                  <c:v>Cat 8</c:v>
                </c:pt>
                <c:pt idx="3">
                  <c:v>Cat 6</c:v>
                </c:pt>
                <c:pt idx="4">
                  <c:v>Cat 2</c:v>
                </c:pt>
                <c:pt idx="5">
                  <c:v>Cat 3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37.5</c:v>
                </c:pt>
                <c:pt idx="1">
                  <c:v>18.5</c:v>
                </c:pt>
                <c:pt idx="2">
                  <c:v>16.8</c:v>
                </c:pt>
                <c:pt idx="3">
                  <c:v>6.4</c:v>
                </c:pt>
                <c:pt idx="4">
                  <c:v>5.3</c:v>
                </c:pt>
                <c:pt idx="5">
                  <c:v>4</c:v>
                </c:pt>
                <c:pt idx="6">
                  <c:v>11.6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3262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74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C99A3B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CENTER OF EXCELLENCE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Sales Analysis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&amp; Strategic Recommendations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011680" cy="0"/>
          </a:xfrm>
          <a:prstGeom prst="line">
            <a:avLst/>
          </a:prstGeom>
          <a:noFill/>
          <a:ln w="25400">
            <a:solidFill>
              <a:srgbClr val="C99A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89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550,068 transactions</a:t>
            </a:r>
            <a:r>
              <a:rPr lang="en-US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5,891 customers</a:t>
            </a:r>
            <a:r>
              <a:rPr lang="en-US" sz="13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3,631 products</a:t>
            </a:r>
            <a:endParaRPr lang="en-US" sz="1300" dirty="0"/>
          </a:p>
        </p:txBody>
      </p:sp>
      <p:sp>
        <p:nvSpPr>
          <p:cNvPr id="9" name="Rounded Rectangle 8"/>
          <p:cNvSpPr/>
          <p:nvPr/>
        </p:nvSpPr>
        <p:spPr>
          <a:xfrm>
            <a:off x="515983" y="4800600"/>
            <a:ext cx="6657703" cy="17765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smtClean="0">
                <a:solidFill>
                  <a:schemeClr val="bg1"/>
                </a:solidFill>
              </a:rPr>
              <a:t>Presented </a:t>
            </a:r>
            <a:r>
              <a:rPr lang="en-US" b="1" dirty="0">
                <a:solidFill>
                  <a:schemeClr val="bg1"/>
                </a:solidFill>
              </a:rPr>
              <a:t>by - </a:t>
            </a:r>
            <a:r>
              <a:rPr lang="en-US" b="1" dirty="0" err="1">
                <a:solidFill>
                  <a:schemeClr val="bg1"/>
                </a:solidFill>
              </a:rPr>
              <a:t>Abha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 smtClean="0">
                <a:solidFill>
                  <a:schemeClr val="bg1"/>
                </a:solidFill>
              </a:rPr>
              <a:t>Verma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Batch </a:t>
            </a:r>
            <a:r>
              <a:rPr lang="en-US" b="1" dirty="0">
                <a:solidFill>
                  <a:schemeClr val="bg1"/>
                </a:solidFill>
              </a:rPr>
              <a:t>- Data Analytics Course(#01701) </a:t>
            </a:r>
            <a:r>
              <a:rPr lang="en-US" b="1" dirty="0" smtClean="0">
                <a:solidFill>
                  <a:schemeClr val="bg1"/>
                </a:solidFill>
              </a:rPr>
              <a:t/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Learners </a:t>
            </a:r>
            <a:r>
              <a:rPr lang="en-US" b="1" dirty="0">
                <a:solidFill>
                  <a:schemeClr val="bg1"/>
                </a:solidFill>
              </a:rPr>
              <a:t>id - </a:t>
            </a:r>
            <a:r>
              <a:rPr lang="en-US" b="1" dirty="0" smtClean="0">
                <a:solidFill>
                  <a:schemeClr val="bg1"/>
                </a:solidFill>
              </a:rPr>
              <a:t>24CRD04709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Project Mentor </a:t>
            </a:r>
            <a:r>
              <a:rPr lang="en-US" b="1" dirty="0">
                <a:solidFill>
                  <a:schemeClr val="bg1"/>
                </a:solidFill>
              </a:rPr>
              <a:t>- </a:t>
            </a:r>
            <a:r>
              <a:rPr lang="en-US" b="1" dirty="0" err="1">
                <a:solidFill>
                  <a:schemeClr val="bg1"/>
                </a:solidFill>
              </a:rPr>
              <a:t>Shaghil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</a:rPr>
              <a:t>Jamal</a:t>
            </a:r>
            <a:br>
              <a:rPr lang="en-US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Tools </a:t>
            </a:r>
            <a:r>
              <a:rPr lang="en-US" b="1" dirty="0">
                <a:solidFill>
                  <a:schemeClr val="bg1"/>
                </a:solidFill>
              </a:rPr>
              <a:t>and </a:t>
            </a:r>
            <a:r>
              <a:rPr lang="en-US" b="1" dirty="0" smtClean="0">
                <a:solidFill>
                  <a:schemeClr val="bg1"/>
                </a:solidFill>
              </a:rPr>
              <a:t>Technologies </a:t>
            </a:r>
            <a:r>
              <a:rPr lang="en-US" b="1" dirty="0">
                <a:solidFill>
                  <a:schemeClr val="bg1"/>
                </a:solidFill>
              </a:rPr>
              <a:t>- Excel, </a:t>
            </a:r>
            <a:r>
              <a:rPr lang="en-US" b="1" dirty="0" err="1">
                <a:solidFill>
                  <a:schemeClr val="bg1"/>
                </a:solidFill>
              </a:rPr>
              <a:t>Sql</a:t>
            </a:r>
            <a:r>
              <a:rPr lang="en-US" b="1" dirty="0">
                <a:solidFill>
                  <a:schemeClr val="bg1"/>
                </a:solidFill>
              </a:rPr>
              <a:t>, Python, Statistics, </a:t>
            </a:r>
            <a:r>
              <a:rPr lang="en-US" b="1" dirty="0" err="1" smtClean="0">
                <a:solidFill>
                  <a:schemeClr val="bg1"/>
                </a:solidFill>
              </a:rPr>
              <a:t>PowerBi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642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568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KPIs framing the campaign's results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0545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Insights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79806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findings on customers, cities &amp; categories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741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467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393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tied directly to the insights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153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1879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Roadmap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4805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pointers to improve performance and drive growth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05663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56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0292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321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goes next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58978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897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58704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Limitations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61630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the hypotheses, and what to watch for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KPIs frame the scale and shape of this Black Friday campaign.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₹509.6 Cr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729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across all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26280" y="2167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5,891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Customers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729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shoppers in the campaign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75320" y="21671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₹9,264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834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/ Txn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317296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basket value per line item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44074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₹8.65 L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/ Customer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413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total revenue per shopper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9768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26280" y="44074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55.3%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Share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413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top 20% of customers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42062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5F7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75320" y="440740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0749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Category Breadth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541324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categories bought per customer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core of customers drives over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all revenue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20% of customers by spend generate 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 of total revenue</a:t>
            </a:r>
            <a:r>
              <a:rPr lang="en-US" sz="14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Pareto-style concentration. Losing even a small share of this group would have an outsized impact on total sales.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4160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20% of customers = 55.3% of revenue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617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retention among top spenders matters more than broad acquisition for protecting revenue.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760720" y="1600200"/>
          <a:ext cx="58521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A &amp; B run deep; City C runs wide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shallow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vs. Avg Transactions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55080" y="214884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836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 (Metro)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532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1,045 customers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235440" y="23134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141.4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txns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55080" y="310896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0" y="3200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B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1,707 customers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235440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135.4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txns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55080" y="4069080"/>
            <a:ext cx="5303520" cy="777240"/>
          </a:xfrm>
          <a:prstGeom prst="roundRect">
            <a:avLst>
              <a:gd name="adj" fmla="val 7059"/>
            </a:avLst>
          </a:prstGeom>
          <a:solidFill>
            <a:srgbClr val="F5F7F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4453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3,139 customers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235440" y="4233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avg txns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51206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 has 3,139 customers — the largest base — but averages just 54.5 transactions each, versus ~140 in City A/B. That frequency gap, not price sensitivity, explains the spend gap.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26–35 age group is the single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revenue driver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429000" cy="4114800"/>
          </a:xfrm>
          <a:prstGeom prst="roundRect">
            <a:avLst>
              <a:gd name="adj" fmla="val 213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920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39.9%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sales comes from customers aged 26–35 — more than the next two age groups combined.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503920" y="4023360"/>
            <a:ext cx="2880360" cy="0"/>
          </a:xfrm>
          <a:prstGeom prst="line">
            <a:avLst/>
          </a:prstGeom>
          <a:noFill/>
          <a:ln w="12700">
            <a:solidFill>
              <a:srgbClr val="3E4B8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0392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check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480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 confirms purchase amount differs significantly across age groups: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40.58, p &lt; 0.001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heavily concentrated in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 category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737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1 alone accounts for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 of total revenue</a:t>
            </a: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than double the next-largest category.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6480" y="2880360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C99A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82512" y="28529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82512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reliable, proven core revenue driver the business can count 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3840480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C99A3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82512" y="38130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Over-dependence on one category increases exposure if demand there softens.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4800600"/>
            <a:ext cx="146304" cy="822960"/>
          </a:xfrm>
          <a:prstGeom prst="roundRect">
            <a:avLst>
              <a:gd name="adj" fmla="val 12500"/>
            </a:avLst>
          </a:prstGeom>
          <a:solidFill>
            <a:srgbClr val="C99A3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82512" y="47731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5074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already buy across 9.6 categories on average — clear room to cross-sell into adjacent, underpenetrated categories.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OF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shows a real spending gap;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does not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E7A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→ Spend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</a:t>
            </a: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revenue comes from male customers, and their average transaction value is significantly higher.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475488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t-test:  t = 46.36,  p &lt; 0.001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28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Gender-based targeting is empirically supported.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5F7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210312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9AA0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031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06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→ Spend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108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meaningful difference</a:t>
            </a:r>
            <a:r>
              <a:rPr lang="en-US" sz="13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spend between married and single customers, despite this being one of our original hypotheses.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0" y="4343400"/>
            <a:ext cx="475488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480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t-test:  t = 0.34,  p = 0.73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8280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Don't build personas around marital status.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16 115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12045696" cy="67116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shot 2026-09-16 1154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73152"/>
            <a:ext cx="12045696" cy="67116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actions, each tied directly to an insight above and prioritized by expected revenue impact.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 tiered loyalty program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top 20% of spenders with early access, free-shipping thresholds, and point multipliers.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55% of revenue at low incremental cost.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328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frequency campaigns in City C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9718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bundles and repeat-purchase incentives rather than blanket discounts — City C's issue is engagement depth, not price.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lever given City C's 3,139-customer 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165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10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Cross-sell out of Category 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top-category purchases with underpenetrated categories, using existing 9.6-category breadth patterns.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971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single-category revenue risk.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4251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4165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910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by gender &amp; age, not marital status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349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campaign budget toward statistically supported segments (26–35, gender-differentiated).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971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marketing ROI on proven signals.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Roadmap: 5 Ways to Improve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strategic actions above, these five pointers close the gaps this analysis surfaced and build toward sustained growth.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739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transaction timestamps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75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date/time field going forward so 'repeat purchase' can be measured as true purchases-over-time, not just line-item count — the biggest gap in this dataset.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615184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to a real-time sales dashboard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29169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Power BI/Tableau directly to the live POS/e-commerce feed so category and city performance can be monitored during the sale, not only after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45643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category-affinity recommendation engine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581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9.6-category average breadth per customer to power 'customers who bought this also bought' prompts at checkout, directly extending Insight 4.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457200" cy="457200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334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42976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channel &amp; campaign attribution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59943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online vs. in-store and which promotion drove each purchase — this is what would let the business finally answer 'is marketing ROI real, or just shifted demand?'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517550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175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513892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demand forecasting for Category 1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54406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its 37.5% revenue concentration, even a simple forecasting model here would meaningfully de-risk inventory planning for the next mega-event.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Next Steps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extends next, following the project's original SQL → Python → BI roadmap.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328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 pipeline &amp; automation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the black_friday_data schema in SQL with scheduled ingestion, so Python and BI tools always query fresh data.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this one-time analysis into a repeatable system.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03911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53288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&amp; ML modeling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97180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regression or ML models on this EDA to forecast next-event sales and flag high-churn-risk customers ahead of time.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593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team from reporting the past to planning the future.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4165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910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Omnichannel &amp; geographic expansion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49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data capture beyond City A/B/C to online-only shoppers and new geographies as the retailer grows.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971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segmentation accurate as the customer base changes.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4251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5F7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4165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C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9103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customer feedback loop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53492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transactional data with post-purchase surveys to explain why segments behave as they do, not just how.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5971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qualitative 'why' behind every stat in this deck.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LIMITATIONS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05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tested this, and what to keep in mind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020824"/>
            <a:ext cx="109728" cy="10972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928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89280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(unequal variances) for two-group comparisons; one-way ANOVA for multi-group comparisons. All tests at α = 0.05.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80944"/>
            <a:ext cx="109728" cy="10972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852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of the data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85292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product line item, not per order or per visit — 'transactions' in this deck means line items.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41064"/>
            <a:ext cx="109728" cy="10972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8130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date field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81304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has no transaction timestamp, so 'repeat purchase' reflects transaction count per customer, not purchases over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01184"/>
            <a:ext cx="109728" cy="109728"/>
          </a:xfrm>
          <a:prstGeom prst="ellipse">
            <a:avLst/>
          </a:prstGeom>
          <a:solidFill>
            <a:srgbClr val="C99A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7731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categories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4773168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occupation categories are anonymized codes, which limits category-specific business interpretation.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3E4B8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Center of Excellence  |  Black Friday Sales Analysis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183112" y="6126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937760"/>
            <a:ext cx="3291840" cy="3291840"/>
          </a:xfrm>
          <a:prstGeom prst="ellipse">
            <a:avLst/>
          </a:prstGeom>
          <a:solidFill>
            <a:srgbClr val="C99A3B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-2194560"/>
            <a:ext cx="3840480" cy="384048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CENTER OF EXCELLENCE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2011680" cy="0"/>
          </a:xfrm>
          <a:prstGeom prst="line">
            <a:avLst/>
          </a:prstGeom>
          <a:noFill/>
          <a:ln w="25400">
            <a:solidFill>
              <a:srgbClr val="C99A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Analysis — Executive Insights &amp; Strategic Recommendations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presented by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9560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Abha Verma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Consultant  |  Data Analytics with GenAI — Capstone Project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18311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1330</Words>
  <Application>Microsoft Office PowerPoint</Application>
  <PresentationFormat>Widescreen</PresentationFormat>
  <Paragraphs>209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3</cp:revision>
  <dcterms:created xsi:type="dcterms:W3CDTF">2026-09-16T06:08:10Z</dcterms:created>
  <dcterms:modified xsi:type="dcterms:W3CDTF">2026-09-16T11:59:03Z</dcterms:modified>
</cp:coreProperties>
</file>